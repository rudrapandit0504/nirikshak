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F59E0B"/>
                </a:solidFill>
                <a:latin typeface="Inter"/>
              </a:defRPr>
            </a:pPr>
            <a:r>
              <a:t>SANGYAN 2026  ·  TRACK E: MISINFORMATION &amp; CONTENT LITERACY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6400" b="1">
                <a:solidFill>
                  <a:srgbClr val="FFFFFF"/>
                </a:solidFill>
                <a:latin typeface="Inter"/>
              </a:defRPr>
            </a:pPr>
            <a:r>
              <a:t>Nirikshak  निरीक्षक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0">
                <a:solidFill>
                  <a:srgbClr val="CBD5E1"/>
                </a:solidFill>
                <a:latin typeface="Inter"/>
              </a:defRPr>
            </a:pPr>
            <a:r>
              <a:t>A local-first AI auditor for finance-influencer videos.</a:t>
            </a:r>
          </a:p>
          <a:p>
            <a:pPr>
              <a:spcAft>
                <a:spcPts val="400"/>
              </a:spcAft>
              <a:defRPr sz="2400" b="0">
                <a:solidFill>
                  <a:srgbClr val="CBD5E1"/>
                </a:solidFill>
                <a:latin typeface="Inter"/>
              </a:defRPr>
            </a:pPr>
            <a:r>
              <a:t>Timestamped red flags · real SEBI registry check · English + Hindi · no cloud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F59E0B"/>
                </a:solidFill>
                <a:latin typeface="Inter"/>
              </a:defRPr>
            </a:pPr>
            <a:r>
              <a:t>github.com/RudraPandit0504/nirikshak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59E0B"/>
                </a:solidFill>
                <a:latin typeface="Inter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0F172A"/>
                </a:solidFill>
                <a:latin typeface="Inter"/>
              </a:defRPr>
            </a:pPr>
            <a:r>
              <a:t>Finfluencer advice, dressed as education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0F172A"/>
                </a:solidFill>
                <a:latin typeface="Inter"/>
              </a:defRPr>
            </a:pPr>
            <a:r>
              <a:t>•  First-time investors, many from Tier-2/3 cities, take their cues from YouTube and Instagram</a:t>
            </a:r>
          </a:p>
          <a:p>
            <a:pPr>
              <a:spcAft>
                <a:spcPts val="1000"/>
              </a:spcAft>
              <a:defRPr sz="1900" b="0">
                <a:solidFill>
                  <a:srgbClr val="0F172A"/>
                </a:solidFill>
                <a:latin typeface="Inter"/>
              </a:defRPr>
            </a:pPr>
            <a:r>
              <a:t>•  Videos mix education with unregistered buy/sell calls, 'guaranteed' returns and paid Telegram groups</a:t>
            </a:r>
          </a:p>
          <a:p>
            <a:pPr>
              <a:spcAft>
                <a:spcPts val="1000"/>
              </a:spcAft>
              <a:defRPr sz="1900" b="0">
                <a:solidFill>
                  <a:srgbClr val="0F172A"/>
                </a:solidFill>
                <a:latin typeface="Inter"/>
              </a:defRPr>
            </a:pPr>
            <a:r>
              <a:t>•  Much of it is in Hindi or Hinglish, long-form, with affiliate links buried in the description</a:t>
            </a:r>
          </a:p>
          <a:p>
            <a:pPr>
              <a:spcAft>
                <a:spcPts val="1000"/>
              </a:spcAft>
              <a:defRPr sz="1900" b="0">
                <a:solidFill>
                  <a:srgbClr val="0F172A"/>
                </a:solidFill>
                <a:latin typeface="Inter"/>
              </a:defRPr>
            </a:pPr>
            <a:r>
              <a:t>•  Only SEBI-registered Research Analysts / Investment Advisers may give such advice, but viewers have no quick way to 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828800"/>
            <a:ext cx="3749039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b="1" sz="1800">
                <a:solidFill>
                  <a:srgbClr val="0F172A"/>
                </a:solidFill>
              </a:defRPr>
            </a:pPr>
            <a:r>
              <a:t>What a viewer needs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</a:defRPr>
            </a:pPr>
            <a:r>
              <a:t>• Which exact statements are risky?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</a:defRPr>
            </a:pPr>
            <a:r>
              <a:t>• Is this person SEBI-registered?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</a:defRPr>
            </a:pPr>
            <a:r>
              <a:t>• Is there a disclaimer, or a hidden promotion?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</a:defRPr>
            </a:pPr>
            <a:r>
              <a:t>• …in my language, in under a minute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59E0B"/>
                </a:solidFill>
                <a:latin typeface="Inter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0F172A"/>
                </a:solidFill>
                <a:latin typeface="Inter"/>
              </a:defRPr>
            </a:pPr>
            <a:r>
              <a:t>Paste a link → get a timestamped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4206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0F172A"/>
                </a:solidFill>
                <a:latin typeface="Inter"/>
              </a:defRPr>
            </a:pPr>
            <a:r>
              <a:t>•  Risk score 0–100 with plain-language summary (read aloud)</a:t>
            </a:r>
          </a:p>
          <a:p>
            <a:pPr>
              <a:spcAft>
                <a:spcPts val="1000"/>
              </a:spcAft>
              <a:defRPr sz="1700" b="0">
                <a:solidFill>
                  <a:srgbClr val="0F172A"/>
                </a:solidFill>
                <a:latin typeface="Inter"/>
              </a:defRPr>
            </a:pPr>
            <a:r>
              <a:t>•  Every finding quoted verbatim, with timestamp: click it and the video jumps there</a:t>
            </a:r>
          </a:p>
          <a:p>
            <a:pPr>
              <a:spcAft>
                <a:spcPts val="1000"/>
              </a:spcAft>
              <a:defRPr sz="1700" b="0">
                <a:solidFill>
                  <a:srgbClr val="0F172A"/>
                </a:solidFill>
                <a:latin typeface="Inter"/>
              </a:defRPr>
            </a:pPr>
            <a:r>
              <a:t>•  8 harm categories, each with confidence and AI/keyword origin</a:t>
            </a:r>
          </a:p>
          <a:p>
            <a:pPr>
              <a:spcAft>
                <a:spcPts val="1000"/>
              </a:spcAft>
              <a:defRPr sz="1700" b="0">
                <a:solidFill>
                  <a:srgbClr val="0F172A"/>
                </a:solidFill>
                <a:latin typeface="Inter"/>
              </a:defRPr>
            </a:pPr>
            <a:r>
              <a:t>•  SEBI RA/IA registry verdict + disclaimer check</a:t>
            </a:r>
          </a:p>
          <a:p>
            <a:pPr>
              <a:spcAft>
                <a:spcPts val="1000"/>
              </a:spcAft>
              <a:defRPr sz="1700" b="0">
                <a:solidFill>
                  <a:srgbClr val="0F172A"/>
                </a:solidFill>
                <a:latin typeface="Inter"/>
              </a:defRPr>
            </a:pPr>
            <a:r>
              <a:t>•  Full English / हिन्दी switch</a:t>
            </a:r>
          </a:p>
        </p:txBody>
      </p:sp>
      <p:pic>
        <p:nvPicPr>
          <p:cNvPr id="6" name="Picture 5" descr="c_0_60_repor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6766560" cy="4543262"/>
          </a:xfrm>
          <a:prstGeom prst="rect">
            <a:avLst/>
          </a:prstGeom>
          <a:ln>
            <a:solidFill>
              <a:srgbClr val="CBD5E1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59E0B"/>
                </a:solidFill>
                <a:latin typeface="Inter"/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0F172A"/>
                </a:solidFill>
                <a:latin typeface="Inter"/>
              </a:defRPr>
            </a:pPr>
            <a:r>
              <a:t>How it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69164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0F172A"/>
                </a:solidFill>
              </a:defRPr>
            </a:pPr>
            <a:r>
              <a:t>Ingest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yt-dlp captions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(spoken-language first)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or Whisper on GPU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58568" y="2834640"/>
            <a:ext cx="201168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68880" y="2011680"/>
            <a:ext cx="169164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0F172A"/>
                </a:solidFill>
              </a:defRPr>
            </a:pPr>
            <a:r>
              <a:t>Pre-scan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Multilingual regex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EN · Hinglish ·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Devanagari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78808" y="2834640"/>
            <a:ext cx="201168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2011680"/>
            <a:ext cx="169164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59E0B"/>
                </a:solidFill>
              </a:defRPr>
            </a:pPr>
            <a:r>
              <a:t>LLM extract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qwen2.5:7b via Ollama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JSON-schema output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~90 s windows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99048" y="2834640"/>
            <a:ext cx="201168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169164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0F172A"/>
                </a:solidFill>
              </a:defRPr>
            </a:pPr>
            <a:r>
              <a:t>Ground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Quote must fuzzy-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match transcript,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else discarded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19288" y="2834640"/>
            <a:ext cx="201168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2011680"/>
            <a:ext cx="169164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59E0B"/>
                </a:solidFill>
              </a:defRPr>
            </a:pPr>
            <a:r>
              <a:t>SEBI check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3,300+ RA/IA records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SQLite mirror +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live number lookup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939528" y="2834640"/>
            <a:ext cx="201168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149840" y="2011680"/>
            <a:ext cx="169164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0F172A"/>
                </a:solidFill>
              </a:defRPr>
            </a:pPr>
            <a:r>
              <a:t>Report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Score · summary ·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Hindi (gemma3:4b)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FastAPI SSE → React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8912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475569"/>
                </a:solidFill>
                <a:latin typeface="Inter"/>
              </a:defRPr>
            </a:pPr>
            <a:r>
              <a:t>Everything runs locally on a 6 GB laptop GPU: models run sequentially, Whisper frees VRAM before the LLM loads.</a:t>
            </a:r>
          </a:p>
          <a:p>
            <a:pPr>
              <a:spcAft>
                <a:spcPts val="400"/>
              </a:spcAft>
              <a:defRPr sz="1600" b="0">
                <a:solidFill>
                  <a:srgbClr val="475569"/>
                </a:solidFill>
                <a:latin typeface="Inter"/>
              </a:defRPr>
            </a:pPr>
            <a:r>
              <a:t>Rules give the LLM hints and act as a low-confidence safety net; the LLM supplies context (a warning ABOUT scams is not a scam).</a:t>
            </a:r>
          </a:p>
          <a:p>
            <a:pPr>
              <a:spcAft>
                <a:spcPts val="400"/>
              </a:spcAft>
              <a:defRPr sz="1600" b="0">
                <a:solidFill>
                  <a:srgbClr val="475569"/>
                </a:solidFill>
                <a:latin typeface="Inter"/>
              </a:defRPr>
            </a:pPr>
            <a:r>
              <a:t>Stack: Python 3.12 · FastAPI · faster-whisper · Ollama · rapidfuzz · SQLite · React + TypeScript + Tailwind · Docker.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59E0B"/>
                </a:solidFill>
                <a:latin typeface="Inter"/>
              </a:defRPr>
            </a:pPr>
            <a:r>
              <a:t>TRUST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0F172A"/>
                </a:solidFill>
                <a:latin typeface="Inter"/>
              </a:defRPr>
            </a:pPr>
            <a:r>
              <a:t>Who is speaking? A real SEBI registry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Mirrors SEBI's public Research Analyst + Investment Adviser lists (3,300+ entities)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Validates any INH… / INA… number quoted in the video or its description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Fuzzy-matches the channel name, but shows it only as 'possible match – verify', never as proof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Detects risk disclaimers in English and Hindi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A quoted number that is NOT in the registry is a strong warning sign</a:t>
            </a:r>
          </a:p>
        </p:txBody>
      </p:sp>
      <p:pic>
        <p:nvPicPr>
          <p:cNvPr id="6" name="Picture 5" descr="regi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4484850" cy="4754880"/>
          </a:xfrm>
          <a:prstGeom prst="rect">
            <a:avLst/>
          </a:prstGeom>
          <a:ln>
            <a:solidFill>
              <a:srgbClr val="CBD5E1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59E0B"/>
                </a:solidFill>
                <a:latin typeface="Inter"/>
              </a:defRPr>
            </a:pPr>
            <a:r>
              <a:t>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0F172A"/>
                </a:solidFill>
                <a:latin typeface="Inter"/>
              </a:defRPr>
            </a:pPr>
            <a:r>
              <a:t>Built for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Understands Hindi, English and Hinglish speech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Entire UI, every explanation and the summary in Hindi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Read-aloud for users who find reading hard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Upload a forwarded WhatsApp voice note: transcribed locally by Whisper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Works offline after setup: no per-use cost, no API keys</a:t>
            </a:r>
          </a:p>
        </p:txBody>
      </p:sp>
      <p:pic>
        <p:nvPicPr>
          <p:cNvPr id="6" name="Picture 5" descr="c_0_60_report_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6126480" cy="4113494"/>
          </a:xfrm>
          <a:prstGeom prst="rect">
            <a:avLst/>
          </a:prstGeom>
          <a:ln>
            <a:solidFill>
              <a:srgbClr val="CBD5E1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59E0B"/>
                </a:solidFill>
                <a:latin typeface="Inter"/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0F172A"/>
                </a:solidFill>
                <a:latin typeface="Inter"/>
              </a:defRPr>
            </a:pPr>
            <a:r>
              <a:t>Does it work? Measured, not assumed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749807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9615"/>
                <a:gridCol w="1499615"/>
                <a:gridCol w="1499615"/>
                <a:gridCol w="1499615"/>
                <a:gridCol w="1499619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System (held-out set)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False alarms on clean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rules-only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0/4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qwen2.5:7b +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0/4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gemma3:4b +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2/4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qwen3:8b +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0/4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73736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475569"/>
                </a:solidFill>
                <a:latin typeface="Inter"/>
              </a:defRPr>
            </a:pPr>
            <a:r>
              <a:t>•  Hand-labelled Hindi / English / Hinglish snippets</a:t>
            </a:r>
          </a:p>
          <a:p>
            <a:pPr>
              <a:spcAft>
                <a:spcPts val="1000"/>
              </a:spcAft>
              <a:defRPr sz="1400" b="0">
                <a:solidFill>
                  <a:srgbClr val="475569"/>
                </a:solidFill>
                <a:latin typeface="Inter"/>
              </a:defRPr>
            </a:pPr>
            <a:r>
              <a:t>•  Held-out set written before tuning, never used for it</a:t>
            </a:r>
          </a:p>
          <a:p>
            <a:pPr>
              <a:spcAft>
                <a:spcPts val="1000"/>
              </a:spcAft>
              <a:defRPr sz="1400" b="0">
                <a:solidFill>
                  <a:srgbClr val="475569"/>
                </a:solidFill>
                <a:latin typeface="Inter"/>
              </a:defRPr>
            </a:pPr>
            <a:r>
              <a:t>•  Clean snippets (education, news, scam warnings) must raise nothing</a:t>
            </a:r>
          </a:p>
          <a:p>
            <a:pPr>
              <a:spcAft>
                <a:spcPts val="1000"/>
              </a:spcAft>
              <a:defRPr sz="1400" b="0">
                <a:solidFill>
                  <a:srgbClr val="475569"/>
                </a:solidFill>
                <a:latin typeface="Inter"/>
              </a:defRPr>
            </a:pPr>
            <a:r>
              <a:t>•  Keyword rules alone miss most claims on unseen wording; the LLM generalises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59E0B"/>
                </a:solidFill>
                <a:latin typeface="Inter"/>
              </a:defRPr>
            </a:pPr>
            <a:r>
              <a:t>TRUST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0F172A"/>
                </a:solidFill>
                <a:latin typeface="Inter"/>
              </a:defRPr>
            </a:pPr>
            <a:r>
              <a:t>Guardrails and privacy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b="1" sz="1800">
                <a:solidFill>
                  <a:srgbClr val="0F172A"/>
                </a:solidFill>
              </a:defRPr>
            </a:pPr>
            <a:r>
              <a:t>Never advises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</a:defRPr>
            </a:pPr>
            <a:r>
              <a:t>No tips, predictions or buy/sell/hold views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</a:defRPr>
            </a:pPr>
            <a:r>
              <a:t>Audits what is said, not whether a stock is good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</a:defRPr>
            </a:pPr>
            <a:r>
              <a:t>Promotes no broker or product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3736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b="1" sz="1800">
                <a:solidFill>
                  <a:srgbClr val="0F172A"/>
                </a:solidFill>
              </a:defRPr>
            </a:pPr>
            <a:r>
              <a:t>Honest about uncertainty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</a:defRPr>
            </a:pPr>
            <a:r>
              <a:t>Confidence on every finding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</a:defRPr>
            </a:pPr>
            <a:r>
              <a:t>Weak signals hidden by default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</a:defRPr>
            </a:pPr>
            <a:r>
              <a:t>Verbatim quote + timestamp to self-check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73736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b="1" sz="1800">
                <a:solidFill>
                  <a:srgbClr val="0F172A"/>
                </a:solidFill>
              </a:defRPr>
            </a:pPr>
            <a:r>
              <a:t>Private by design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</a:defRPr>
            </a:pPr>
            <a:r>
              <a:t>All AI runs on the user's machine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</a:defRPr>
            </a:pPr>
            <a:r>
              <a:t>No personal data collected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</a:defRPr>
            </a:pPr>
            <a:r>
              <a:t>Uploads deleted after 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0">
                <a:solidFill>
                  <a:srgbClr val="475569"/>
                </a:solidFill>
                <a:latin typeface="Inter"/>
              </a:defRPr>
            </a:pPr>
            <a:r>
              <a:t>Anti-hallucination: a finding is kept only if its quote is found in the transcript.</a:t>
            </a:r>
          </a:p>
          <a:p>
            <a:pPr>
              <a:spcAft>
                <a:spcPts val="400"/>
              </a:spcAft>
              <a:defRPr sz="1700" b="0">
                <a:solidFill>
                  <a:srgbClr val="475569"/>
                </a:solidFill>
                <a:latin typeface="Inter"/>
              </a:defRPr>
            </a:pPr>
            <a:r>
              <a:t>Name matches against the registry are labelled 'possible match – verify the number'.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59E0B"/>
                </a:solidFill>
                <a:latin typeface="Inter"/>
              </a:defRPr>
            </a:pPr>
            <a: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0F172A"/>
                </a:solidFill>
                <a:latin typeface="Inter"/>
              </a:defRPr>
            </a:pPr>
            <a:r>
              <a:t>Impact and path to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Zero marginal cost: runs on a single consumer GPU, no API bills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Useful to investors, investor-awareness programmes, journalists and compliance teams triaging finfluencer content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Open source (MIT): any institution can self-host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Browser extension: audit badge right on YouTube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Instagram Reels &amp; Telegram channel exports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Tamil, Telugu, Bengali, Marathi via IndicTrans2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Broker / MF-distributor registries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Inter"/>
              </a:defRPr>
            </a:pPr>
            <a:r>
              <a:t>•  Larger labelled dataset with volunteers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4000" b="1">
                <a:solidFill>
                  <a:srgbClr val="FFFFFF"/>
                </a:solidFill>
                <a:latin typeface="Inter"/>
              </a:defRPr>
            </a:pPr>
            <a:r>
              <a:t>Watch the claim. Check the speaker.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0">
                <a:solidFill>
                  <a:srgbClr val="F59E0B"/>
                </a:solidFill>
                <a:latin typeface="Inter"/>
              </a:defRPr>
            </a:pPr>
            <a:r>
              <a:t>github.com/RudraPandit0504/nirikshak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CBD5E1"/>
                </a:solidFill>
                <a:latin typeface="Inter"/>
              </a:defRPr>
            </a:pPr>
            <a:r>
              <a:t>Awareness tool only.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