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0_9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8839200" cy="6858000"/>
          </a:xfrm>
          <a:prstGeom prst="rect">
            <a:avLst/>
          </a:prstGeom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SANGYAN 2026  ·  TRACK A + TRACK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Nirikshak  निरीक्षक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D8DCE6"/>
                </a:solidFill>
                <a:latin typeface="Calibri"/>
              </a:rPr>
              <a:t>Check before you trust.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D8DCE6"/>
                </a:solidFill>
                <a:latin typeface="Calibri"/>
              </a:rPr>
              <a:t>An investor-protection auditor for forwarded WhatsApp tips, finfluencer videos and the creators behind them, checked against SEBI's registers, in Hindi and English.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7A1A"/>
                </a:solidFill>
                <a:latin typeface="Calibri"/>
              </a:rPr>
              <a:t>Live demo  </a:t>
            </a:r>
            <a:r>
              <a:rPr sz="1400" b="0">
                <a:solidFill>
                  <a:srgbClr val="FFFFFF"/>
                </a:solidFill>
                <a:latin typeface="Calibri"/>
              </a:rPr>
              <a:t>https://13-233-152-160.sslip.io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F7A1A"/>
                </a:solidFill>
                <a:latin typeface="Calibri"/>
              </a:rPr>
              <a:t>Code  </a:t>
            </a:r>
            <a:r>
              <a:rPr sz="1400" b="0">
                <a:solidFill>
                  <a:srgbClr val="FFFFFF"/>
                </a:solidFill>
                <a:latin typeface="Calibri"/>
              </a:rPr>
              <a:t>https://github.com/RudraPandit0504/nirikshak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Market access has outrun trustworthy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7A1A"/>
                </a:solidFill>
                <a:latin typeface="Calibri"/>
              </a:rPr>
              <a:t>16+ crore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demat accounts in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566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7C4DFF"/>
                </a:solidFill>
                <a:latin typeface="Calibri"/>
              </a:rPr>
              <a:t>70%+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of new retail accounts from Tier-2/3 cities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566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E53E3E"/>
                </a:solidFill>
                <a:latin typeface="Calibri"/>
              </a:rPr>
              <a:t>9 in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individual F&amp;O traders lose money (SEBI study)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Tips arrive as WhatsApp/Telegram forwards and YouTube videos: "guaranteed" returns, buy/sell calls, VIP groups, fake KYC alerts.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Scammers use fake SEBI numbers, cloned broker sites and remote-access apps; victims realise only when money is gone.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Many first-time investors are more comfortable in Hindi, have no one to ask, and can't tell education from promotion.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WHO WE SOLVE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Sunita, 34, Kanpur: first-time investor, Hindi-first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Opened a demat account last year; learns from YouTube and family WhatsApp groups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Receives "tips" and "KYC alerts" daily and can't verify who is behind them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Reads Hindi comfortably, English with effort; uses a mid-range Android phone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Needs a quick, trustworthy answer at the moment of doubt: before she pays, clicks or invests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737360"/>
            <a:ext cx="4937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03720" y="1965960"/>
            <a:ext cx="4114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Also built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06039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Senior citizens targeted by impersonation (fake SEBI / broker calls)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Families checking a tip forwarded to a parent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Anyone who just received a suspicious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206240"/>
            <a:ext cx="4937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4434840"/>
            <a:ext cx="4114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572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What she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074920"/>
            <a:ext cx="4572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Is this a scam? Which exact part is dangerous?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Is this person SEBI-registered?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What should I do now, in my language?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One product, four ways to check before you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4114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1220"/>
                </a:solidFill>
                <a:latin typeface="Calibri"/>
              </a:rPr>
              <a:t>Check a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3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Paste a forwarded WhatsApp/Telegram/SMS tip or drop a screenshot. Flags OTP requests, fake KYC, payment demands, suspicious links, impersonation.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Track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965960"/>
            <a:ext cx="41148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1220"/>
                </a:solidFill>
                <a:latin typeface="Calibri"/>
              </a:rPr>
              <a:t>Audit a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0603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Paste a YouTube link. Every guaranteed-return promise, buy/sell call, hype and hidden promotion, quoted with its timestamp.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53E3E"/>
                </a:solidFill>
                <a:latin typeface="Calibri"/>
              </a:rPr>
              <a:t>Track 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965960"/>
            <a:ext cx="4114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1220"/>
                </a:solidFill>
                <a:latin typeface="Calibri"/>
              </a:rPr>
              <a:t>Profile a creator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3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Audits a channel's recent uploads: how often they give tips, promise returns or push paid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7C4DFF"/>
                </a:solidFill>
                <a:latin typeface="Calibri"/>
              </a:rPr>
              <a:t>Track 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73736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965960"/>
            <a:ext cx="411480" cy="54864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1220"/>
                </a:solidFill>
                <a:latin typeface="Calibri"/>
              </a:rPr>
              <a:t>Ask in your 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606039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Chat (typed or spoken, Hindi/English) about any audit. Answers cite the evidence; never gives investment advice.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EA84F"/>
                </a:solidFill>
                <a:latin typeface="Calibri"/>
              </a:rPr>
              <a:t>Tracks C/E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Every name, website and registration number is checked against 6,645 entities from 5 SEBI registers. Every result comes with a plain-language summary, concrete next steps, a PDF report and a natural voice, in English or हिन्दी.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JOURNEY 1 · TRACK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A fake Zerodha KYC alert, caught in seconds</a:t>
            </a:r>
          </a:p>
        </p:txBody>
      </p:sp>
      <p:pic>
        <p:nvPicPr>
          <p:cNvPr id="5" name="Picture 4" descr="crop_130_910_m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672899"/>
          </a:xfrm>
          <a:prstGeom prst="rect">
            <a:avLst/>
          </a:prstGeom>
          <a:ln>
            <a:solidFill>
              <a:srgbClr val="DDDA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Risk 100/100: every warning sign is tied to the exact line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Domain check: uses Zerodha's name but links to zerodha-kyc-update.in, not their official site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Spots the OTP request and the ₹99 fee to a UPI handle; ignores a genuine bank OTP SMS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Gives concrete steps: don't share, don't pay, use the official app, call 1930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Works from a screenshot too (vision OCR keeps Hindi in Devanagari)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JOURNEY 2 · TRACK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A "100X guaranteed" crypto video, audited line by line</a:t>
            </a:r>
          </a:p>
        </p:txBody>
      </p:sp>
      <p:pic>
        <p:nvPicPr>
          <p:cNvPr id="5" name="Picture 4" descr="crop_130_910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4672899"/>
          </a:xfrm>
          <a:prstGeom prst="rect">
            <a:avLst/>
          </a:prstGeom>
          <a:ln>
            <a:solidFill>
              <a:srgbClr val="DDDA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Full transcript (YouTube captions or local Whisper, Hindi/English/Hinglish)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Findings quote the creator verbatim with a timestamp you can click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Each finding shows severity, confidence and whether AI or keywords found it: uncertainty is visible, never a bare true/false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Separates promotion (paid groups, referral links) from education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WHO IS GIVING THE ADVICE?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Real checks against SEBI's public registers</a:t>
            </a:r>
          </a:p>
        </p:txBody>
      </p:sp>
      <p:pic>
        <p:nvPicPr>
          <p:cNvPr id="5" name="Picture 4" descr="crop_520_1040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3893234" cy="4937760"/>
          </a:xfrm>
          <a:prstGeom prst="rect">
            <a:avLst/>
          </a:prstGeom>
          <a:ln>
            <a:solidFill>
              <a:srgbClr val="DDDA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173736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Local mirror of 5 SEBI registers: research analysts, investment advisers, portfolio managers, brokers, mutual funds (6,645 entities)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Checks every registration number (typos too), the channel name, presenters and guest experts found by AI, and the creator's own website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Clear verdicts: registered adviser · registered only as a broker (not allowed to give tips) · guest expert registered · not registered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Shows exactly what was checked, so "not found" is evidence, not a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ASK THE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Grounded answers, and a firm line on advice</a:t>
            </a:r>
          </a:p>
        </p:txBody>
      </p:sp>
      <p:pic>
        <p:nvPicPr>
          <p:cNvPr id="5" name="Picture 4" descr="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7498079" cy="3280410"/>
          </a:xfrm>
          <a:prstGeom prst="rect">
            <a:avLst/>
          </a:prstGeom>
          <a:ln>
            <a:solidFill>
              <a:srgbClr val="DDDA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321040" y="173736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Questions in English or Hindi, typed or spoken (local Whisper)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Answers cite real transcript lines; made-up citations are dropped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"Should I buy?" / "Will it double?" are refused and redirected to the facts and registration status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Concept questions ("what is a stop-loss?") get labelled general explanations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BHARAT-FIRST · 25% OF THE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Built for Hindi speakers and low-end phones</a:t>
            </a:r>
          </a:p>
        </p:txBody>
      </p:sp>
      <p:pic>
        <p:nvPicPr>
          <p:cNvPr id="5" name="Picture 4" descr="crop_130_910_hin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852160" cy="3935073"/>
          </a:xfrm>
          <a:prstGeom prst="rect">
            <a:avLst/>
          </a:prstGeom>
          <a:ln>
            <a:solidFill>
              <a:srgbClr val="DDDAE8"/>
            </a:solidFill>
          </a:ln>
        </p:spPr>
      </p:pic>
      <p:pic>
        <p:nvPicPr>
          <p:cNvPr id="6" name="Picture 5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54480"/>
            <a:ext cx="2323919" cy="5029200"/>
          </a:xfrm>
          <a:prstGeom prst="rect">
            <a:avLst/>
          </a:prstGeom>
          <a:ln>
            <a:solidFill>
              <a:srgbClr val="DDDA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98280" y="164592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FF7A1A"/>
                </a:solidFill>
                <a:latin typeface="Calibri"/>
              </a:rPr>
              <a:t>•  </a:t>
            </a:r>
            <a:r>
              <a:rPr sz="1500" b="0">
                <a:solidFill>
                  <a:srgbClr val="3B4559"/>
                </a:solidFill>
                <a:latin typeface="Calibri"/>
              </a:rPr>
              <a:t>Full Hindi UI, explanations, summaries and PDF, written in everyday Hindi (style guide + glossary)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F7A1A"/>
                </a:solidFill>
                <a:latin typeface="Calibri"/>
              </a:rPr>
              <a:t>•  </a:t>
            </a:r>
            <a:r>
              <a:rPr sz="1500" b="0">
                <a:solidFill>
                  <a:srgbClr val="3B4559"/>
                </a:solidFill>
                <a:latin typeface="Calibri"/>
              </a:rPr>
              <a:t>Natural voice reads the summary aloud (Kokoro TTS, 4.1/5 naturalness in Hindi vs 1.4 for the browser voice)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FF7A1A"/>
                </a:solidFill>
                <a:latin typeface="Calibri"/>
              </a:rPr>
              <a:t>•  </a:t>
            </a:r>
            <a:r>
              <a:rPr sz="1500" b="0">
                <a:solidFill>
                  <a:srgbClr val="3B4559"/>
                </a:solidFill>
                <a:latin typeface="Calibri"/>
              </a:rPr>
              <a:t>Works on any phone browser: responsive layout, light effects; the AI runs on a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CREATOR TRUST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One video can be an outlier; the pattern is the warning</a:t>
            </a:r>
          </a:p>
        </p:txBody>
      </p:sp>
      <p:pic>
        <p:nvPicPr>
          <p:cNvPr id="5" name="Picture 4" descr="crop_120_1000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5271989"/>
          </a:xfrm>
          <a:prstGeom prst="rect">
            <a:avLst/>
          </a:prstGeom>
          <a:ln>
            <a:solidFill>
              <a:srgbClr val="DDDAE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Audits a channel's latest uploads (re-using earlier audits)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Example: high risk overall; all 5 recent videos push a paid Telegram group, 2 promise guaranteed returns; not registered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Contrast: a SEBI-registered research analyst is verified and scores low (0/100) across recent videos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Helps users decide whom to follow, not what to buy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AI used where it matters, guarded by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385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YouTube captions · Whisper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(local) · screenshot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82880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9385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46888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Multilingual rules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EN · Hinglish · हिन्दी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9385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7A1A"/>
                </a:solidFill>
                <a:latin typeface="Calibri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46888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CEDA"/>
                </a:solidFill>
                <a:latin typeface="Calibri"/>
              </a:rPr>
              <a:t>LLM, JSON-schema output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CEDA"/>
                </a:solidFill>
                <a:latin typeface="Calibri"/>
              </a:rPr>
              <a:t>12 harm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9385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6888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Quote must match the text,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else discarded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9385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7A1A"/>
                </a:solidFill>
                <a:latin typeface="Calibri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46888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9CEDA"/>
                </a:solidFill>
                <a:latin typeface="Calibri"/>
              </a:rPr>
              <a:t>SEBI registers · official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9CEDA"/>
                </a:solidFill>
                <a:latin typeface="Calibri"/>
              </a:rPr>
              <a:t>broker 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1828800"/>
            <a:ext cx="1691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7" y="193852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220"/>
                </a:solidFill>
                <a:latin typeface="Calibri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7" y="2468880"/>
            <a:ext cx="1508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Brief · Hindi · voice ·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3B4559"/>
                </a:solidFill>
                <a:latin typeface="Calibri"/>
              </a:rPr>
              <a:t>PDF ·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Runs fully local on a 6 GB laptop GPU: Qwen 2.5 7B (analysis) + Gemma 3 4B (Hindi, vision) via Ollama, faster-whisper, Kokoro TTS. No data leaves the device.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Hosted demo on AWS (EC2, Mumbai): same code, AI via Amazon Bedrock with Groq/Gemini fallback, server-side keys, per-visitor limits.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FF7A1A"/>
                </a:solidFill>
                <a:latin typeface="Calibri"/>
              </a:rPr>
              <a:t>•  </a:t>
            </a:r>
            <a:r>
              <a:rPr sz="1700" b="0">
                <a:solidFill>
                  <a:srgbClr val="3B4559"/>
                </a:solidFill>
                <a:latin typeface="Calibri"/>
              </a:rPr>
              <a:t>Stack: Python · FastAPI · SQLite · React + TypeScript + Tailwind · Docker. 31 unit tests; labelled eval 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TRUST, GUARDRAILS &amp; MEASURED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Non-commercial, private, honest about uncertainty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411480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39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No tips, predictions or buy/sell/hold views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Advice questions refused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No brokers promoted, no monetisation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965960"/>
            <a:ext cx="411480" cy="54864"/>
          </a:xfrm>
          <a:prstGeom prst="rect">
            <a:avLst/>
          </a:prstGeom>
          <a:solidFill>
            <a:srgbClr val="2E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39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Full version runs on the user's device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No SMS/OTP harvesting; nothing stored remotely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Messages can be checked without saving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5661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965960"/>
            <a:ext cx="41148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06039"/>
            <a:ext cx="32004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Confidence on every finding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Verbatim quotes to self-check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3B4559"/>
                </a:solidFill>
                <a:latin typeface="Calibri"/>
              </a:rPr>
              <a:t>"Possible match: verify the number"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Held-out test sets (never used for tuning): </a:t>
            </a:r>
            <a:r>
              <a:rPr sz="1600" b="0">
                <a:solidFill>
                  <a:srgbClr val="3B4559"/>
                </a:solidFill>
                <a:latin typeface="Calibri"/>
              </a:rPr>
              <a:t>video claims F1 0.89 vs 0.56 for keyword rules alone, 0 false alarms on clean videos; forwarded-message scams F1 0.96, 0 false alarms on clean messages (bank OTP SMS, news, family chats).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Calibrated scoring: </a:t>
            </a:r>
            <a:r>
              <a:rPr sz="1600" b="0">
                <a:solidFill>
                  <a:srgbClr val="3B4559"/>
                </a:solidFill>
                <a:latin typeface="Calibri"/>
              </a:rPr>
              <a:t>registered analysts and educational videos score low (0-14); scams and guaranteed-return pitches score high. Test sets are published with the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gradFill rotWithShape="1">
            <a:gsLst>
              <a:gs pos="0">
                <a:srgbClr val="FF7A1A"/>
              </a:gs>
              <a:gs pos="100000">
                <a:srgbClr val="7C4D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7A1A"/>
                </a:solidFill>
                <a:latin typeface="Calibri"/>
              </a:rPr>
              <a:t>FEASIBILITY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1220"/>
                </a:solidFill>
                <a:latin typeface="Calibri"/>
              </a:rPr>
              <a:t>Infrastructure any institution can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Open source; runs on one consumer GPU with zero per-check cost, or on a hosted model API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An exchange, depository, investor-education fund or NGO can host it for millions; users only need a phone browser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•  </a:t>
            </a:r>
            <a:r>
              <a:rPr sz="2000" b="0">
                <a:solidFill>
                  <a:srgbClr val="3B4559"/>
                </a:solidFill>
                <a:latin typeface="Calibri"/>
              </a:rPr>
              <a:t>Rules, registers and languages are data: add new scam patterns or regional languages without retraining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5212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4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2011680"/>
            <a:ext cx="411480" cy="54864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122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Share-to-Nirikshak from WhatsApp and a Telegram bot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Tamil, Telugu, Bengali, Marathi via Bhashini / IndicTrans2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IVR / missed-call verification of a registration number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Brokers' and AMFI distributor registers; nightly SEBI sync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B4559"/>
                </a:solidFill>
                <a:latin typeface="Calibri"/>
              </a:rPr>
              <a:t>Larger labelled dataset with investor-protection volunteers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Check before you trust.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Live demo  </a:t>
            </a:r>
            <a:r>
              <a:rPr sz="2000" b="0">
                <a:solidFill>
                  <a:srgbClr val="FFFFFF"/>
                </a:solidFill>
                <a:latin typeface="Calibri"/>
              </a:rPr>
              <a:t>https://13-233-152-160.sslip.io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FF7A1A"/>
                </a:solidFill>
                <a:latin typeface="Calibri"/>
              </a:rPr>
              <a:t>Code  </a:t>
            </a:r>
            <a:r>
              <a:rPr sz="2000" b="0">
                <a:solidFill>
                  <a:srgbClr val="FFFFFF"/>
                </a:solidFill>
                <a:latin typeface="Calibri"/>
              </a:rPr>
              <a:t>https://github.com/RudraPandit0504/nirikshak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4B5"/>
                </a:solidFill>
                <a:latin typeface="Calibri"/>
              </a:rPr>
              <a:t>Awareness tool only.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